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7" r:id="rId2"/>
    <p:sldId id="266" r:id="rId3"/>
    <p:sldId id="271" r:id="rId4"/>
    <p:sldId id="270" r:id="rId5"/>
    <p:sldId id="268" r:id="rId6"/>
    <p:sldId id="272" r:id="rId7"/>
    <p:sldId id="273" r:id="rId8"/>
    <p:sldId id="27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17" autoAdjust="0"/>
    <p:restoredTop sz="94660"/>
  </p:normalViewPr>
  <p:slideViewPr>
    <p:cSldViewPr snapToGrid="0">
      <p:cViewPr varScale="1">
        <p:scale>
          <a:sx n="91" d="100"/>
          <a:sy n="91" d="100"/>
        </p:scale>
        <p:origin x="7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3281F-2A29-D65F-819A-783B70F60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urface with black dots&#10;&#10;AI-generated content may be incorrect.">
            <a:extLst>
              <a:ext uri="{FF2B5EF4-FFF2-40B4-BE49-F238E27FC236}">
                <a16:creationId xmlns:a16="http://schemas.microsoft.com/office/drawing/2014/main" id="{A6E68302-CE02-B3E6-00CD-678C5E222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23" y="564180"/>
            <a:ext cx="2872989" cy="5159187"/>
          </a:xfrm>
          <a:prstGeom prst="rect">
            <a:avLst/>
          </a:prstGeom>
        </p:spPr>
      </p:pic>
      <p:pic>
        <p:nvPicPr>
          <p:cNvPr id="5" name="Picture 4" descr="A white surface with black dots&#10;&#10;AI-generated content may be incorrect.">
            <a:extLst>
              <a:ext uri="{FF2B5EF4-FFF2-40B4-BE49-F238E27FC236}">
                <a16:creationId xmlns:a16="http://schemas.microsoft.com/office/drawing/2014/main" id="{D72BCE63-5C70-FD1B-FD8B-441786D02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011" y="564179"/>
            <a:ext cx="2872989" cy="5159187"/>
          </a:xfrm>
          <a:prstGeom prst="rect">
            <a:avLst/>
          </a:prstGeom>
        </p:spPr>
      </p:pic>
      <p:pic>
        <p:nvPicPr>
          <p:cNvPr id="7" name="Picture 6" descr="A white surface with black dots&#10;&#10;AI-generated content may be incorrect.">
            <a:extLst>
              <a:ext uri="{FF2B5EF4-FFF2-40B4-BE49-F238E27FC236}">
                <a16:creationId xmlns:a16="http://schemas.microsoft.com/office/drawing/2014/main" id="{87BA719E-F8DA-6742-F2CD-5A7BF2EE7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034" y="966852"/>
            <a:ext cx="2872989" cy="5159187"/>
          </a:xfrm>
          <a:prstGeom prst="rect">
            <a:avLst/>
          </a:prstGeom>
        </p:spPr>
      </p:pic>
      <p:pic>
        <p:nvPicPr>
          <p:cNvPr id="9" name="Picture 8" descr="A white surface with black dots&#10;&#10;AI-generated content may be incorrect.">
            <a:extLst>
              <a:ext uri="{FF2B5EF4-FFF2-40B4-BE49-F238E27FC236}">
                <a16:creationId xmlns:a16="http://schemas.microsoft.com/office/drawing/2014/main" id="{76C00EF2-9C3B-E254-4318-0D102CE25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279" y="1050742"/>
            <a:ext cx="2872989" cy="51591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E98461-8DA1-B520-A74C-FFB166C84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259" y="0"/>
            <a:ext cx="6313775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5233C4-EF85-4ED5-65F9-E61EA1836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724" y="0"/>
            <a:ext cx="64505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7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06B4-3012-4545-93D5-162B475EB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3487933-49A4-2C01-139F-E9F2CF5E2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36" y="737090"/>
            <a:ext cx="10167058" cy="4511431"/>
          </a:xfrm>
          <a:prstGeom prst="rect">
            <a:avLst/>
          </a:prstGeom>
        </p:spPr>
      </p:pic>
      <p:pic>
        <p:nvPicPr>
          <p:cNvPr id="12" name="Picture 11" descr="A white surface with a black border&#10;&#10;AI-generated content may be incorrect.">
            <a:extLst>
              <a:ext uri="{FF2B5EF4-FFF2-40B4-BE49-F238E27FC236}">
                <a16:creationId xmlns:a16="http://schemas.microsoft.com/office/drawing/2014/main" id="{1B8A3678-E35C-B73B-16B8-340B46958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821" y="1634679"/>
            <a:ext cx="4473328" cy="4511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7C4F61-53D6-0093-D522-C29FB2FA4522}"/>
              </a:ext>
            </a:extLst>
          </p:cNvPr>
          <p:cNvSpPr txBox="1"/>
          <p:nvPr/>
        </p:nvSpPr>
        <p:spPr>
          <a:xfrm>
            <a:off x="394282" y="148687"/>
            <a:ext cx="2701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highlight>
                  <a:srgbClr val="FFFF00"/>
                </a:highlight>
              </a:rPr>
              <a:t>GraphQL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57E8F4-00ED-165E-5B28-AC4F165D89FA}"/>
              </a:ext>
            </a:extLst>
          </p:cNvPr>
          <p:cNvSpPr txBox="1"/>
          <p:nvPr/>
        </p:nvSpPr>
        <p:spPr>
          <a:xfrm>
            <a:off x="392284" y="1091033"/>
            <a:ext cx="110502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An open-source query language for API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It lets clients ask for exactly the data they need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No </a:t>
            </a:r>
            <a:r>
              <a:rPr lang="en-IN" sz="4000" dirty="0"/>
              <a:t>Over-fetching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No Under-fetching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129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4ACE5-C979-B468-EE2A-F6F43B86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10DE508-CDF7-C950-1BDB-CCA57A051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36" y="737090"/>
            <a:ext cx="10167058" cy="4511431"/>
          </a:xfrm>
          <a:prstGeom prst="rect">
            <a:avLst/>
          </a:prstGeom>
        </p:spPr>
      </p:pic>
      <p:pic>
        <p:nvPicPr>
          <p:cNvPr id="12" name="Picture 11" descr="A white surface with a black border&#10;&#10;AI-generated content may be incorrect.">
            <a:extLst>
              <a:ext uri="{FF2B5EF4-FFF2-40B4-BE49-F238E27FC236}">
                <a16:creationId xmlns:a16="http://schemas.microsoft.com/office/drawing/2014/main" id="{5317D769-8A06-526B-BF45-BD321CE48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821" y="1634679"/>
            <a:ext cx="4473328" cy="45114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66813A-6646-07B5-25C7-E7F4B2DE2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75" y="255705"/>
            <a:ext cx="10577650" cy="63465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66D514-7C9D-3F08-F6F5-FE6D6846CE3C}"/>
              </a:ext>
            </a:extLst>
          </p:cNvPr>
          <p:cNvSpPr txBox="1"/>
          <p:nvPr/>
        </p:nvSpPr>
        <p:spPr>
          <a:xfrm>
            <a:off x="6616117" y="2298584"/>
            <a:ext cx="1823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HTTP POST </a:t>
            </a:r>
          </a:p>
          <a:p>
            <a:r>
              <a:rPr lang="en-IN" b="1" dirty="0">
                <a:highlight>
                  <a:srgbClr val="FFFF00"/>
                </a:highlight>
              </a:rPr>
              <a:t>by default</a:t>
            </a:r>
          </a:p>
        </p:txBody>
      </p:sp>
    </p:spTree>
    <p:extLst>
      <p:ext uri="{BB962C8B-B14F-4D97-AF65-F5344CB8AC3E}">
        <p14:creationId xmlns:p14="http://schemas.microsoft.com/office/powerpoint/2010/main" val="1134138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4334D-B2A8-1CF5-F2CA-EAC9A5C96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513C92C-E0C4-5F43-6FDA-5A8152F73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36" y="737090"/>
            <a:ext cx="10167058" cy="4511431"/>
          </a:xfrm>
          <a:prstGeom prst="rect">
            <a:avLst/>
          </a:prstGeom>
        </p:spPr>
      </p:pic>
      <p:pic>
        <p:nvPicPr>
          <p:cNvPr id="12" name="Picture 11" descr="A white surface with a black border&#10;&#10;AI-generated content may be incorrect.">
            <a:extLst>
              <a:ext uri="{FF2B5EF4-FFF2-40B4-BE49-F238E27FC236}">
                <a16:creationId xmlns:a16="http://schemas.microsoft.com/office/drawing/2014/main" id="{99FF32D2-A61F-8257-75C8-91AB0C796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821" y="1634679"/>
            <a:ext cx="4473328" cy="45114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AB7772-F757-AE74-F473-F2A1F3982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998" y="83890"/>
            <a:ext cx="9808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634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FCC36-AE93-52AB-6447-15198616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96C7B50-3149-2737-D4F7-5A62526BD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36" y="737090"/>
            <a:ext cx="10167058" cy="4511431"/>
          </a:xfrm>
          <a:prstGeom prst="rect">
            <a:avLst/>
          </a:prstGeom>
        </p:spPr>
      </p:pic>
      <p:pic>
        <p:nvPicPr>
          <p:cNvPr id="12" name="Picture 11" descr="A white surface with a black border&#10;&#10;AI-generated content may be incorrect.">
            <a:extLst>
              <a:ext uri="{FF2B5EF4-FFF2-40B4-BE49-F238E27FC236}">
                <a16:creationId xmlns:a16="http://schemas.microsoft.com/office/drawing/2014/main" id="{0BDE1110-1B7E-48CC-BF82-9B90510D0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821" y="1634679"/>
            <a:ext cx="4473328" cy="4511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CE00D9-4D64-2E70-E8C3-A9684E60B414}"/>
              </a:ext>
            </a:extLst>
          </p:cNvPr>
          <p:cNvSpPr txBox="1"/>
          <p:nvPr/>
        </p:nvSpPr>
        <p:spPr>
          <a:xfrm>
            <a:off x="394281" y="148687"/>
            <a:ext cx="39512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highlight>
                  <a:srgbClr val="FFFF00"/>
                </a:highlight>
              </a:rPr>
              <a:t>How It Works</a:t>
            </a:r>
            <a:endParaRPr lang="en-IN" sz="7200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F4F519-CD32-D594-D282-92486D37BC77}"/>
              </a:ext>
            </a:extLst>
          </p:cNvPr>
          <p:cNvSpPr txBox="1"/>
          <p:nvPr/>
        </p:nvSpPr>
        <p:spPr>
          <a:xfrm>
            <a:off x="394281" y="856357"/>
            <a:ext cx="1105029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GraphQL APIs are built on a </a:t>
            </a:r>
            <a:r>
              <a:rPr lang="en-US" sz="3200" b="1" dirty="0"/>
              <a:t>Type System</a:t>
            </a:r>
            <a:r>
              <a:rPr lang="en-US" sz="3200" dirty="0"/>
              <a:t> and a </a:t>
            </a:r>
            <a:r>
              <a:rPr lang="en-US" sz="3200" b="1" dirty="0"/>
              <a:t>Schema</a:t>
            </a:r>
          </a:p>
          <a:p>
            <a:endParaRPr lang="en-US" b="1" dirty="0"/>
          </a:p>
          <a:p>
            <a:r>
              <a:rPr lang="en-US" sz="3200" b="1" u="sng" dirty="0"/>
              <a:t>Schema</a:t>
            </a:r>
            <a:r>
              <a:rPr lang="en-US" sz="3200" b="1" dirty="0"/>
              <a:t>:</a:t>
            </a:r>
            <a:r>
              <a:rPr lang="en-US" sz="3200" dirty="0"/>
              <a:t> A "contract" defined by the server that lists all available data types (e.g., User, Project) and their relationships.</a:t>
            </a:r>
          </a:p>
          <a:p>
            <a:r>
              <a:rPr lang="en-US" sz="2800" b="1" u="sng" dirty="0"/>
              <a:t>Resolvers</a:t>
            </a:r>
            <a:r>
              <a:rPr lang="en-US" sz="2800" b="1" dirty="0"/>
              <a:t>:</a:t>
            </a:r>
            <a:r>
              <a:rPr lang="en-US" sz="2800" dirty="0"/>
              <a:t> Functions on the server that fetch the actual data for each field from various sources like databases, other APIs, or microservices.</a:t>
            </a:r>
          </a:p>
          <a:p>
            <a:r>
              <a:rPr lang="en-US" sz="2800" b="1" u="sng" dirty="0"/>
              <a:t>Operations</a:t>
            </a:r>
            <a:r>
              <a:rPr lang="en-US" sz="2800" b="1" dirty="0"/>
              <a:t>:</a:t>
            </a:r>
            <a:r>
              <a:rPr lang="en-US" sz="2800" dirty="0"/>
              <a:t> Clients interact with the API using three main types of operations:</a:t>
            </a:r>
          </a:p>
          <a:p>
            <a:pPr lvl="1"/>
            <a:r>
              <a:rPr lang="en-US" sz="2800" b="1" u="sng" dirty="0"/>
              <a:t>Queries</a:t>
            </a:r>
            <a:r>
              <a:rPr lang="en-US" sz="2800" b="1" dirty="0"/>
              <a:t>:</a:t>
            </a:r>
            <a:r>
              <a:rPr lang="en-US" sz="2800" dirty="0"/>
              <a:t> For fetching data (similar to a GET request).</a:t>
            </a:r>
          </a:p>
          <a:p>
            <a:pPr lvl="1"/>
            <a:r>
              <a:rPr lang="en-US" sz="2800" b="1" u="sng" dirty="0"/>
              <a:t>Mutations</a:t>
            </a:r>
            <a:r>
              <a:rPr lang="en-US" sz="2800" b="1" dirty="0"/>
              <a:t>:</a:t>
            </a:r>
            <a:r>
              <a:rPr lang="en-US" sz="2800" dirty="0"/>
              <a:t> For creating, updating, or deleting data (similar to POST, PUT, DELETE).</a:t>
            </a:r>
          </a:p>
          <a:p>
            <a:pPr lvl="1"/>
            <a:r>
              <a:rPr lang="en-US" sz="2800" b="1" u="sng" dirty="0"/>
              <a:t>Subscriptions</a:t>
            </a:r>
            <a:r>
              <a:rPr lang="en-US" sz="2800" b="1" dirty="0"/>
              <a:t>:</a:t>
            </a:r>
            <a:r>
              <a:rPr lang="en-US" sz="2800" dirty="0"/>
              <a:t> For receiving real-time updates over long-lived connections (typically via WebSockets).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657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AFA0-17C9-9115-9FF6-B00C2840A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1343DF4-9FB4-C10B-15A2-134733665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36" y="737090"/>
            <a:ext cx="10167058" cy="4511431"/>
          </a:xfrm>
          <a:prstGeom prst="rect">
            <a:avLst/>
          </a:prstGeom>
        </p:spPr>
      </p:pic>
      <p:pic>
        <p:nvPicPr>
          <p:cNvPr id="12" name="Picture 11" descr="A white surface with a black border&#10;&#10;AI-generated content may be incorrect.">
            <a:extLst>
              <a:ext uri="{FF2B5EF4-FFF2-40B4-BE49-F238E27FC236}">
                <a16:creationId xmlns:a16="http://schemas.microsoft.com/office/drawing/2014/main" id="{ECE3645B-0CE1-23BB-675E-27D2D9EF3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821" y="1634679"/>
            <a:ext cx="4473328" cy="4511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91323A-53ED-5D81-8C08-B5ADCC702859}"/>
              </a:ext>
            </a:extLst>
          </p:cNvPr>
          <p:cNvSpPr txBox="1"/>
          <p:nvPr/>
        </p:nvSpPr>
        <p:spPr>
          <a:xfrm>
            <a:off x="394281" y="148687"/>
            <a:ext cx="39512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highlight>
                  <a:srgbClr val="FFFF00"/>
                </a:highlight>
              </a:rPr>
              <a:t>Key Features</a:t>
            </a:r>
            <a:endParaRPr lang="en-IN" sz="7200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A5BC23-A24F-CBD2-FA4B-C27968383E98}"/>
              </a:ext>
            </a:extLst>
          </p:cNvPr>
          <p:cNvSpPr txBox="1"/>
          <p:nvPr/>
        </p:nvSpPr>
        <p:spPr>
          <a:xfrm>
            <a:off x="394281" y="965597"/>
            <a:ext cx="1105029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rgbClr val="0A0A0A"/>
                </a:solidFill>
                <a:latin typeface="Google Sans"/>
              </a:rPr>
              <a:t>Single Endpoint:</a:t>
            </a:r>
            <a:r>
              <a:rPr lang="en-US" altLang="en-US" sz="3200" dirty="0">
                <a:solidFill>
                  <a:srgbClr val="0A0A0A"/>
                </a:solidFill>
                <a:latin typeface="Google Sans"/>
              </a:rPr>
              <a:t> All operations usually go to a single URL (e.g., /graphql), regardless of what data is being requested.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rgbClr val="0A0A0A"/>
              </a:solidFill>
              <a:latin typeface="Google Sans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rgbClr val="0A0A0A"/>
                </a:solidFill>
                <a:latin typeface="Google Sans"/>
              </a:rPr>
              <a:t>Strongly Typed:</a:t>
            </a:r>
            <a:r>
              <a:rPr lang="en-US" altLang="en-US" sz="3200" dirty="0">
                <a:solidFill>
                  <a:srgbClr val="0A0A0A"/>
                </a:solidFill>
                <a:latin typeface="Google Sans"/>
              </a:rPr>
              <a:t> Every field has a specific type, allowing for automatic validation and better developer tools.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rgbClr val="0A0A0A"/>
              </a:solidFill>
              <a:latin typeface="Google Sans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rgbClr val="0A0A0A"/>
                </a:solidFill>
                <a:latin typeface="Google Sans"/>
              </a:rPr>
              <a:t>Introspective:</a:t>
            </a:r>
            <a:r>
              <a:rPr lang="en-US" altLang="en-US" sz="3200" dirty="0">
                <a:solidFill>
                  <a:srgbClr val="0A0A0A"/>
                </a:solidFill>
                <a:latin typeface="Google Sans"/>
              </a:rPr>
              <a:t> You can query the API for its own schema to see what data is available, making it self-documenting.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rgbClr val="0A0A0A"/>
              </a:solidFill>
              <a:latin typeface="Google Sans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rgbClr val="0A0A0A"/>
                </a:solidFill>
                <a:latin typeface="Google Sans"/>
              </a:rPr>
              <a:t>Version less:</a:t>
            </a:r>
            <a:r>
              <a:rPr lang="en-US" altLang="en-US" sz="3200" dirty="0">
                <a:solidFill>
                  <a:srgbClr val="0A0A0A"/>
                </a:solidFill>
                <a:latin typeface="Google Sans"/>
              </a:rPr>
              <a:t> Instead of creating new versions (like </a:t>
            </a:r>
            <a:r>
              <a:rPr lang="en-US" altLang="en-US" sz="2000" dirty="0">
                <a:solidFill>
                  <a:srgbClr val="0A0A0A"/>
                </a:solidFill>
                <a:latin typeface="Arial Unicode MS"/>
              </a:rPr>
              <a:t>/v1/</a:t>
            </a:r>
            <a:r>
              <a:rPr lang="en-US" altLang="en-US" sz="3200" dirty="0">
                <a:solidFill>
                  <a:srgbClr val="0A0A0A"/>
                </a:solidFill>
                <a:latin typeface="Google Sans"/>
              </a:rPr>
              <a:t>, </a:t>
            </a:r>
            <a:r>
              <a:rPr lang="en-US" altLang="en-US" sz="2000" dirty="0">
                <a:solidFill>
                  <a:srgbClr val="0A0A0A"/>
                </a:solidFill>
                <a:latin typeface="Arial Unicode MS"/>
              </a:rPr>
              <a:t>/v2/</a:t>
            </a:r>
            <a:r>
              <a:rPr lang="en-US" altLang="en-US" sz="3200" dirty="0">
                <a:solidFill>
                  <a:srgbClr val="0A0A0A"/>
                </a:solidFill>
                <a:latin typeface="Google Sans"/>
              </a:rPr>
              <a:t>), APIs evolve by adding new fields and deprecating old ones without breaking existing queries. </a:t>
            </a:r>
            <a:endParaRPr lang="en-US" sz="32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4BC1B9-5C3D-18E4-BDE6-1962B05D1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260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54279-8C4B-019C-1696-44761695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92EB54-95EB-DEE9-31E7-140EE868E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35" y="737090"/>
            <a:ext cx="10938845" cy="4511431"/>
          </a:xfrm>
          <a:prstGeom prst="rect">
            <a:avLst/>
          </a:prstGeom>
        </p:spPr>
      </p:pic>
      <p:pic>
        <p:nvPicPr>
          <p:cNvPr id="12" name="Picture 11" descr="A white surface with a black border&#10;&#10;AI-generated content may be incorrect.">
            <a:extLst>
              <a:ext uri="{FF2B5EF4-FFF2-40B4-BE49-F238E27FC236}">
                <a16:creationId xmlns:a16="http://schemas.microsoft.com/office/drawing/2014/main" id="{13C43C55-AF47-E30E-1283-FC53E796E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821" y="1634679"/>
            <a:ext cx="4473328" cy="4511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B4A666-A336-36A9-5FAD-002A1447DE77}"/>
              </a:ext>
            </a:extLst>
          </p:cNvPr>
          <p:cNvSpPr txBox="1"/>
          <p:nvPr/>
        </p:nvSpPr>
        <p:spPr>
          <a:xfrm>
            <a:off x="394281" y="148687"/>
            <a:ext cx="39512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highlight>
                  <a:srgbClr val="FFFF00"/>
                </a:highlight>
              </a:rPr>
              <a:t>Disadvantages</a:t>
            </a:r>
            <a:endParaRPr lang="en-IN" sz="7200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9DAD21-C337-8E3C-CB4B-F794263B20A3}"/>
              </a:ext>
            </a:extLst>
          </p:cNvPr>
          <p:cNvSpPr txBox="1"/>
          <p:nvPr/>
        </p:nvSpPr>
        <p:spPr>
          <a:xfrm>
            <a:off x="394281" y="965597"/>
            <a:ext cx="110502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Complexity Overhead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Potential Over-fetching (for a poorly designed query)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Caching Challenges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Schema Design Overhead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Learning Curve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C8C3AAC-01F0-0AF5-5A71-26D62AEDF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687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F7DF9-54C6-C358-0D22-388F8735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3F061D-5F57-3002-CA79-ACD14AC22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35" y="737090"/>
            <a:ext cx="10938845" cy="4511431"/>
          </a:xfrm>
          <a:prstGeom prst="rect">
            <a:avLst/>
          </a:prstGeom>
        </p:spPr>
      </p:pic>
      <p:pic>
        <p:nvPicPr>
          <p:cNvPr id="12" name="Picture 11" descr="A white surface with a black border&#10;&#10;AI-generated content may be incorrect.">
            <a:extLst>
              <a:ext uri="{FF2B5EF4-FFF2-40B4-BE49-F238E27FC236}">
                <a16:creationId xmlns:a16="http://schemas.microsoft.com/office/drawing/2014/main" id="{8DEC6AA8-1E0C-C8CB-B643-1BB954829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821" y="1634679"/>
            <a:ext cx="4473328" cy="4511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DD5918-2474-FBCF-55AD-F8ADC843F349}"/>
              </a:ext>
            </a:extLst>
          </p:cNvPr>
          <p:cNvSpPr txBox="1"/>
          <p:nvPr/>
        </p:nvSpPr>
        <p:spPr>
          <a:xfrm>
            <a:off x="394281" y="148687"/>
            <a:ext cx="39512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highlight>
                  <a:srgbClr val="FFFF00"/>
                </a:highlight>
              </a:rPr>
              <a:t>Demo</a:t>
            </a:r>
            <a:endParaRPr lang="en-IN" sz="7200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5D45E2-7EE9-B8A2-9D69-FEBA31DA3EE8}"/>
              </a:ext>
            </a:extLst>
          </p:cNvPr>
          <p:cNvSpPr txBox="1"/>
          <p:nvPr/>
        </p:nvSpPr>
        <p:spPr>
          <a:xfrm>
            <a:off x="394281" y="965597"/>
            <a:ext cx="110502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AI (Google Gemini) assisted backend development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Simple query (POST method)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Nested query (POST method)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Filtering / selective query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Selective query with limit keyword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Error scenario response code and body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GET method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.gql file or schema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Manual/ POSTMAN testing, Automation testing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0DD7CB9-BCE1-16B8-DD60-494CBADF6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91788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{67A6D264-8BAF-407C-82F6-3A983AB9D80A}tf10001105</Template>
  <TotalTime>1434</TotalTime>
  <Words>323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Unicode MS</vt:lpstr>
      <vt:lpstr>Franklin Gothic Book</vt:lpstr>
      <vt:lpstr>Google Sans</vt:lpstr>
      <vt:lpstr>Crop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Ratnamala Swami</dc:creator>
  <cp:lastModifiedBy>Ratnamala Swami</cp:lastModifiedBy>
  <cp:revision>70</cp:revision>
  <dcterms:created xsi:type="dcterms:W3CDTF">2025-12-10T17:46:59Z</dcterms:created>
  <dcterms:modified xsi:type="dcterms:W3CDTF">2025-12-28T13:05:19Z</dcterms:modified>
</cp:coreProperties>
</file>